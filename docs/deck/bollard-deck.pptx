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VOICE-TO-ACTION INTERLOCK · AI INFRA SUMMIT HACKATHON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4700" b="1" dirty="0">
                <a:solidFill>
                  <a:srgbClr val="E8E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 between</a:t>
            </a:r>
            <a:endParaRPr lang="en-US" sz="47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700" b="1" dirty="0">
                <a:solidFill>
                  <a:srgbClr val="E8E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hearing and hands.</a:t>
            </a:r>
            <a:endParaRPr lang="en-US" sz="47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700" b="1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moves until the command passes policy.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548640" y="47091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Bollard takes every spoken command to a robot arm, transcribes it with Speechmatics, judges it against a safety policy, and only then lets the arm move. Every command leaves a tamper-evident receipt.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bollard-five.vercel.app</a:t>
            </a:r>
            <a:pPr indent="0" marL="0">
              <a:buNone/>
            </a:pPr>
            <a:r>
              <a:rPr lang="en-US" sz="130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github.com/A-Raphie/bollard   ·   built by Raphie (@a_raphie)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robot that executes whatever it hears is not a product. It is a liability.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Hearing ships.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566160" y="324612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Speechmatics turns speech into text in real time. Text is not consent.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133088"/>
            <a:ext cx="11091672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702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 ship.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66160" y="427024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VLA policies and robot arms act on whatever instruction they receive.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157216"/>
            <a:ext cx="11091672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29437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3D5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 is missing.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5294376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surface shows what was heard, what was allowed, and what moved. That gap is where deployment dies: safety review has nothing to audit.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MECHANISM · ONE COMMAND, FIVE GATES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048256" cy="4023360"/>
          </a:xfrm>
          <a:prstGeom prst="roundRect">
            <a:avLst>
              <a:gd name="adj" fmla="val 2679"/>
            </a:avLst>
          </a:prstGeom>
          <a:solidFill>
            <a:srgbClr val="1A2029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5727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208483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E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mic streams 16 kHz PCM to Speechmatics Realtime over a short-TTL JWT. The key never leaves the server.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06624" y="1371600"/>
            <a:ext cx="2048256" cy="4023360"/>
          </a:xfrm>
          <a:prstGeom prst="roundRect">
            <a:avLst>
              <a:gd name="adj" fmla="val 2679"/>
            </a:avLst>
          </a:prstGeom>
          <a:solidFill>
            <a:srgbClr val="1A2029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1216" y="15727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71216" y="208483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E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71216" y="2560320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deterministic grammar extracts verb, object, destination. No model, no guesswork: the same words always parse the same.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64608" y="1371600"/>
            <a:ext cx="2048256" cy="4023360"/>
          </a:xfrm>
          <a:prstGeom prst="roundRect">
            <a:avLst>
              <a:gd name="adj" fmla="val 2679"/>
            </a:avLst>
          </a:prstGeom>
          <a:solidFill>
            <a:srgbClr val="1A2029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5727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208483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E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560320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policy engine checks hazard class, reach, grip and destination. Output: ALLOW or DENY, with reasons.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22592" y="1371600"/>
            <a:ext cx="2048256" cy="4023360"/>
          </a:xfrm>
          <a:prstGeom prst="roundRect">
            <a:avLst>
              <a:gd name="adj" fmla="val 2679"/>
            </a:avLst>
          </a:prstGeom>
          <a:solidFill>
            <a:srgbClr val="1A2029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87184" y="15727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87184" y="208483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E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87184" y="2560320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an ALLOW reaches the arms. The bollard rope pays out and the dinner table executes the step.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0576" y="1371600"/>
            <a:ext cx="2048256" cy="4023360"/>
          </a:xfrm>
          <a:prstGeom prst="roundRect">
            <a:avLst>
              <a:gd name="adj" fmla="val 2679"/>
            </a:avLst>
          </a:prstGeom>
          <a:solidFill>
            <a:srgbClr val="1A2029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15727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45168" y="208483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E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RECEIPT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45168" y="2560320"/>
            <a:ext cx="17190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command appends to a SHA-256 hash chain: heard, confidence, intent, verdict, scene fingerprint.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 → parse → judge → act → receipt · deterministic policy · no LLM in the command path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ON THE DEPLOYED BUILD</a:t>
            </a:r>
            <a:endParaRPr lang="en-US" sz="1100" dirty="0"/>
          </a:p>
        </p:txBody>
      </p:sp>
      <p:pic>
        <p:nvPicPr>
          <p:cNvPr id="3" name="Image 0" descr="/Users/raphie/Documents/Hackathons/bollard/docs/deck/cockpit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960120"/>
            <a:ext cx="7662672" cy="4791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977640" y="960120"/>
            <a:ext cx="7662672" cy="4791456"/>
          </a:xfrm>
          <a:prstGeom prst="roundRect">
            <a:avLst>
              <a:gd name="adj" fmla="val 954"/>
            </a:avLst>
          </a:prstGeom>
          <a:solidFill>
            <a:srgbClr val="0C0F14">
              <a:alpha val="0"/>
            </a:srgbClr>
          </a:solidFill>
          <a:ln w="19050">
            <a:solidFill>
              <a:srgbClr val="2A32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3716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cockpit: a spoken-style command is judged and denied because the saucepan is hot. One panel earlier, a plate placement was allowed. The receipt chain keeps both.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3931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26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DENY · HAZARD_HOT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“move the pan to the center”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saucepan is hot (60°C+ on the hotplate). Manual handling only.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BOUNDARY · A POLICY YOU CAN READ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D1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allows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place, pick up and slide safe objects: plates, bowls, cutlery, napkins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glassware moves with a care note: slow approach, soft grip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named-arm routing: “with the left arm”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1143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6A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refuses, with reasons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0" y="173736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hot saucepan, the lit candle, any throw of glassware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off-table drops, occupied destinations, out-of-reach corners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–"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command that arrives while the arm is mid-action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11091672" cy="1554480"/>
          </a:xfrm>
          <a:prstGeom prst="roundRect">
            <a:avLst>
              <a:gd name="adj" fmla="val 3529"/>
            </a:avLst>
          </a:prstGeom>
          <a:solidFill>
            <a:srgbClr val="1A1417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E2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41605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“move the pan to the center”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saucepan is hot (60°C+ on the hotplate). Manual handling only.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04120" y="416052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DENY CLASSES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HAZARD_HOT · FLAME_LIT · SHARP_MOTION · EDGE_DROP · OUT_OF_REACH · DEST_OCCUPIED · GRIPPER_FULL · NOT_ON_TABLE · UNKNOWN_OBJECT · UNKNOWN_VERB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RECEIPTS · THE AUDIT SURFACE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6035040" cy="3749040"/>
          </a:xfrm>
          <a:prstGeom prst="roundRect">
            <a:avLst>
              <a:gd name="adj" fmla="val 1463"/>
            </a:avLst>
          </a:prstGeom>
          <a:solidFill>
            <a:srgbClr val="1A2029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1732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26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#002 · HAZARD_HOT · “move the pan to the center”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heard:      move the pan to the center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    typed · same pipeline as voice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reason:     The saucepan is hot (60°C+ on the hotplate).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Manual handling only.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prev:       8e60687e…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E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hash:       sha256 · 1ecb33fe…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49440" y="1188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Honesty table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49440" y="1691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9440" y="19659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2D simulation, policy-driven animation. Not a trained VLA policy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0" y="26243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289864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grammar + policy engine. No LLM in the command path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49440" y="3557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383133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Speechmatics Realtime (cloud). JWT minted server-side; the key never reaches the browser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49440" y="44897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receipts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476402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chain, verified in the browser, exported as JSON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 re-hashes the whole chain and prints VALID, or the serial where it breaks.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 IT IN 90 SECONDS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75488" cy="475488"/>
          </a:xfrm>
          <a:prstGeom prst="ellipse">
            <a:avLst/>
          </a:prstGeom>
          <a:solidFill>
            <a:srgbClr val="1A2029"/>
          </a:solidFill>
          <a:ln w="15875">
            <a:solidFill>
              <a:srgbClr val="53D5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926080" y="1280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bollard-five.vercel.app/app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475488" cy="475488"/>
          </a:xfrm>
          <a:prstGeom prst="ellipse">
            <a:avLst/>
          </a:prstGeom>
          <a:solidFill>
            <a:srgbClr val="1A2029"/>
          </a:solidFill>
          <a:ln w="15875">
            <a:solidFill>
              <a:srgbClr val="53D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2128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26080" y="221284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chip “place a plate on the left placemat”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475488" cy="475488"/>
          </a:xfrm>
          <a:prstGeom prst="ellipse">
            <a:avLst/>
          </a:prstGeom>
          <a:solidFill>
            <a:srgbClr val="1A2029"/>
          </a:solidFill>
          <a:ln w="15875">
            <a:solidFill>
              <a:srgbClr val="53D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1455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26080" y="314553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→ ALLOW, the arm moves, receipt #1 lands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23944"/>
            <a:ext cx="475488" cy="475488"/>
          </a:xfrm>
          <a:prstGeom prst="ellipse">
            <a:avLst/>
          </a:prstGeom>
          <a:solidFill>
            <a:srgbClr val="1A2029"/>
          </a:solidFill>
          <a:ln w="15875">
            <a:solidFill>
              <a:srgbClr val="53D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23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7822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 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926080" y="4078224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“move the pan to the center” → DENY · HAZARD_HOT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56632"/>
            <a:ext cx="475488" cy="475488"/>
          </a:xfrm>
          <a:prstGeom prst="ellipse">
            <a:avLst/>
          </a:prstGeom>
          <a:solidFill>
            <a:srgbClr val="1A2029"/>
          </a:solidFill>
          <a:ln w="15875">
            <a:solidFill>
              <a:srgbClr val="53D5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056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0109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926080" y="501091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6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hit Verify chain → every SHA-256 link re-hashes → VALID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943600"/>
            <a:ext cx="11091672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D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bollard-five.vercel.app/app</a:t>
            </a:r>
            <a:pPr indent="0" marL="0">
              <a:buNone/>
            </a:pPr>
            <a:r>
              <a:rPr lang="en-US" sz="1200" dirty="0">
                <a:solidFill>
                  <a:srgbClr val="8A96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github.com/A-Raphie/bollard   ·   Intel online track + Speechmatics bonus   ·   Raphie (@a_raphie)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Bollard · the gate between hearing and hands</dc:title>
  <dc:subject>PptxGenJS Presentation</dc:subject>
  <dc:creator>Raphie</dc:creator>
  <cp:lastModifiedBy>Raphie</cp:lastModifiedBy>
  <cp:revision>1</cp:revision>
  <dcterms:created xsi:type="dcterms:W3CDTF">2026-09-14T16:38:56Z</dcterms:created>
  <dcterms:modified xsi:type="dcterms:W3CDTF">2026-09-14T16:38:56Z</dcterms:modified>
</cp:coreProperties>
</file>